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"/>
            <a:ext cx="228600" cy="2286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685800"/>
            <a:ext cx="228600" cy="228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274320"/>
            <a:ext cx="228600" cy="2286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685800"/>
            <a:ext cx="228600" cy="228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274320"/>
            <a:ext cx="228600" cy="2286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685800"/>
            <a:ext cx="228600" cy="228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66760" y="274320"/>
            <a:ext cx="228600" cy="2286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66760" y="685800"/>
            <a:ext cx="228600" cy="228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0" y="274320"/>
            <a:ext cx="228600" cy="22860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0" y="685800"/>
            <a:ext cx="228600" cy="228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457200"/>
            <a:ext cx="3200400" cy="32004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005840"/>
            <a:ext cx="2011680" cy="201168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1188720" cy="11887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20040" y="731520"/>
            <a:ext cx="2194560" cy="347472"/>
          </a:xfrm>
          <a:prstGeom prst="rect">
            <a:avLst>
              <a:gd name="adj" fmla="val 13158"/>
            </a:avLst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731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21B2E"/>
                </a:solidFill>
              </a:rPr>
              <a:t>MACHINE LEARNING PROJECT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0040" y="1234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</a:t>
            </a:r>
            <a:endParaRPr lang="en-US" sz="4800" dirty="0"/>
          </a:p>
        </p:txBody>
      </p:sp>
      <p:sp>
        <p:nvSpPr>
          <p:cNvPr id="19" name="Text 16"/>
          <p:cNvSpPr/>
          <p:nvPr/>
        </p:nvSpPr>
        <p:spPr>
          <a:xfrm>
            <a:off x="320040" y="20574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320040" y="2926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telecom customers using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XGBoost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20040" y="3749040"/>
            <a:ext cx="32004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0040" y="3931920"/>
            <a:ext cx="1920240" cy="4572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Telco Dataset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468880" y="3931920"/>
            <a:ext cx="1920240" cy="4572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6888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7,043 Customers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17720" y="3931920"/>
            <a:ext cx="1920240" cy="4572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1772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 ML Models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766560" y="3931920"/>
            <a:ext cx="1920240" cy="4572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6560" y="3931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Streamlit 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Customer Churn?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508760"/>
            <a:ext cx="5029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508760"/>
            <a:ext cx="9144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6002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Churn</a:t>
            </a:r>
            <a:pPr indent="0" marL="0">
              <a:buNone/>
            </a:pPr>
            <a:r>
              <a:rPr lang="en-US" sz="1400" dirty="0">
                <a:solidFill>
                  <a:srgbClr val="0F2027"/>
                </a:solidFill>
              </a:rPr>
              <a:t> occurs when a customer stops using a company's service.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In telecom, retaining an existing customer is 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5-10x cheaper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than acquiring a new one. Early prediction enables targeted intervention.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0" y="1508760"/>
            <a:ext cx="301752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06440" y="15087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26%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766560" y="150876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Avg Churn 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 Telecom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2240280"/>
            <a:ext cx="301752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06440" y="224028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₹500Cr+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766560" y="22402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Annual Revenue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Loss Industry-wide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60720" y="2971800"/>
            <a:ext cx="3017520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06440" y="297180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5x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66560" y="297180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Costlier to Acquire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vs Retain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749040"/>
            <a:ext cx="8412480" cy="7315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58768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3749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Goal: Build a model that predicts which customers are likely to churn — enabling proactive retention campaigns.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Telco Customer Churn Dataset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4173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17320"/>
            <a:ext cx="19659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7,043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74320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Customers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41448" y="14173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41448" y="1417320"/>
            <a:ext cx="19659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41448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20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441448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Features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08576" y="14173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8576" y="1417320"/>
            <a:ext cx="19659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08576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26.5%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608576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Churn Rate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75704" y="141732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75704" y="1417320"/>
            <a:ext cx="19659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75704" y="1508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</a:rPr>
              <a:t>11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775704" y="2011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NaN Rows Dropped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26060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260604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2926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Gender  ·  Senior Citizen  ·  Partner  ·  Dependents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09160" y="260604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260604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9204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Services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92040" y="2926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Phone, Internet, Streaming  ·  Online Security &amp; Backup  ·  Device Protection, Tech Support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37033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370332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Account Info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Contract Type (M-M, 1yr, 2yr)  ·  Payment Method  ·  Paperless Billing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09160" y="370332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709160" y="3703320"/>
            <a:ext cx="73152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9204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Financials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892040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Monthly Charges  ·  Total Charges  ·  Tenure (months)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1B2E"/>
                </a:solidFill>
              </a:rPr>
              <a:t>PROJECT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ML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508760"/>
            <a:ext cx="132588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600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574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651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Loading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3154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Telco CSV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7,043 rows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554480" y="2697480"/>
            <a:ext cx="1371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1508760"/>
            <a:ext cx="1325880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691640" y="1600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2057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2651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737360" y="3154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Encode · Scale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Drop NaNs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017520" y="2697480"/>
            <a:ext cx="1371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154680" y="1508760"/>
            <a:ext cx="1325880" cy="2560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3154680" y="1600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20574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00400" y="2651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SMOTE Balancing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200400" y="3154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Handle class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imbalance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480560" y="2697480"/>
            <a:ext cx="1371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617720" y="1508760"/>
            <a:ext cx="132588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617720" y="1600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05740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663440" y="2651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Training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663440" y="3154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4 models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5-fold CV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943600" y="2697480"/>
            <a:ext cx="1371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080760" y="1508760"/>
            <a:ext cx="1325880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6080760" y="1600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05740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26480" y="2651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126480" y="3154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ROC-AUC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F1 · Recall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7406640" y="2697480"/>
            <a:ext cx="1371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543800" y="1508760"/>
            <a:ext cx="1325880" cy="2560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7543800" y="16002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8" y="2057400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589520" y="2651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Streamlit App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7589520" y="31546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Single &amp; Batch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Prediction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F4F8"/>
                </a:solidFill>
              </a:rPr>
              <a:t>Each step is modular — preprocess.py · train.py · evaluate.py · app.py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DATA PREPROCESSING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Cleaning &amp; Feature Engineering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5087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508760"/>
            <a:ext cx="27432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 · Fix &amp; Clean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" y="2176272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27"/>
                </a:solidFill>
              </a:rPr>
              <a:t>TotalCharges had spaces instead of NaN values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" y="2980944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9077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27"/>
                </a:solidFill>
              </a:rPr>
              <a:t>Converted to numeric → dropped 11 NaN rows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" y="3785616"/>
            <a:ext cx="164592" cy="16459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71246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27"/>
                </a:solidFill>
              </a:rPr>
              <a:t>Removed customerID (non-predictive)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0" y="15087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50876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· Encode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364992" y="21762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188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27"/>
                </a:solidFill>
              </a:rPr>
              <a:t>Binary cols (gender, partner etc.) → Label Encoded (0/1)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64992" y="298094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11880" y="29077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27"/>
                </a:solidFill>
              </a:rPr>
              <a:t>Multi-class cols (Contract, Payment etc.) → One-Hot Encoded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364992" y="378561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11880" y="371246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27"/>
                </a:solidFill>
              </a:rPr>
              <a:t>drop_first=True to avoid dummy variable trap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26480" y="150876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126480" y="1508760"/>
            <a:ext cx="274320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· Scale &amp; Balance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291072" y="2176272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7960" y="2103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27"/>
                </a:solidFill>
              </a:rPr>
              <a:t>StandardScaler on: tenure, MonthlyCharges, TotalCharges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91072" y="2980944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37960" y="290779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27"/>
                </a:solidFill>
              </a:rPr>
              <a:t>SMOTE applied to training set to fix class imbalance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291072" y="3785616"/>
            <a:ext cx="164592" cy="16459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37960" y="371246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027"/>
                </a:solidFill>
              </a:rPr>
              <a:t>Churn : Non-Churn was 26:74 → balanced to 50:50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1B2E"/>
                </a:solidFill>
              </a:rPr>
              <a:t>⚡ Scaler and feature column order are saved as .pkl files for use in the Streamlit app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MODELS USED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Algorithms Compared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5087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508760"/>
            <a:ext cx="9144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27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Baseline linear model.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Fast, interpretable.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874520"/>
            <a:ext cx="100584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CV AUC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9184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0.8851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663440" y="15087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508760"/>
            <a:ext cx="9144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27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64608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Ensemble of decision trees.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Handles non-linearity.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80960" y="1874520"/>
            <a:ext cx="10058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CV AUC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680960" y="2167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0.9228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274320" y="32004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3200400"/>
            <a:ext cx="91440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27"/>
                </a:solidFill>
              </a:rPr>
              <a:t>Gradient Boosting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75488" y="3657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Sequential boosting.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Best generalization.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91840" y="3566160"/>
            <a:ext cx="1005840" cy="73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0" y="3566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CV AUC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91840" y="385876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0.8865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4663440" y="32004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3200400"/>
            <a:ext cx="9144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64608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27"/>
                </a:solidFill>
              </a:rPr>
              <a:t>XGBoost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864608" y="3657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Optimized gradient boost.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Fast &amp; feature importance.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680960" y="3566160"/>
            <a:ext cx="100584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80960" y="3566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CV AUC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680960" y="385876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0.9082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F4F8"/>
                </a:solidFill>
              </a:rPr>
              <a:t>All models trained on SMOTE-balanced data · 5-Fold Cross Validation · random_state=42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MODEL RESULTS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Comparison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8595360" cy="201168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280160"/>
                <a:gridCol w="1188720"/>
                <a:gridCol w="137160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CV AUC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AUC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Churn Recall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0.8851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0.8148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73%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70%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Baseline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0.9228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0.8120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77%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64%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Overfits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Gradient Boosting ★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0.8865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0.8335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74%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76%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</a:rPr>
                        <a:t>BEST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XGBoost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0.9082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0.8120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76%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67%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2027"/>
                          </a:solidFill>
                        </a:rPr>
                        <a:t>Overfits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7033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7947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Winner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320040" y="4160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Gradient Boosting has best Test AUC (0.8335) and lowest CV→Test gap (0.05)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154680" y="37033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79476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03320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Overfitting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3200400" y="4160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Random Forest &amp; XGBoost learned SMOTE patterns too well — high CV, lower test AUC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035040" y="370332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79476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583680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Metric Choice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080760" y="4160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Recall on churn class (class 1) matters most — we want to catch every at-risk customer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FEATURE IMPORTANCE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Drives Churn?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" y="14630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Contract: Month-to-month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697480" y="1517904"/>
            <a:ext cx="4206240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95160" y="14630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92%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18928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Tenure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97480" y="1947672"/>
            <a:ext cx="3886200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1892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85%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74320" y="23225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Total Charges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97480" y="2377440"/>
            <a:ext cx="356616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23225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78%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" y="27523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Monthly Charges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97480" y="2807208"/>
            <a:ext cx="329184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27523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72%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" y="31821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Internet: Fiber Optic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697480" y="3236976"/>
            <a:ext cx="2971800" cy="2377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31821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65%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74320" y="3611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Online Security: No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697480" y="3666744"/>
            <a:ext cx="2651760" cy="2377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40680" y="3611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58%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74320" y="40416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Payment: Elec. Check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697480" y="4096512"/>
            <a:ext cx="2286000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74920" y="40416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50%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274320" y="44714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Tech Support: No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697480" y="4526280"/>
            <a:ext cx="1965960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0" y="44714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43%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498080" y="1417320"/>
            <a:ext cx="1417320" cy="34747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498080" y="15087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KEY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INSIGHTS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571232" y="2194560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662672" y="2176272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Month-to-month customers churn 3x more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571232" y="3063240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62672" y="3044952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New customers (low tenure) are riskiest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571232" y="3931920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62672" y="3913632"/>
            <a:ext cx="1170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Fiber optic users have higher dissatisfaction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74320" y="4681728"/>
            <a:ext cx="7040880" cy="320040"/>
          </a:xfrm>
          <a:prstGeom prst="rect">
            <a:avLst/>
          </a:prstGeom>
          <a:solidFill>
            <a:srgbClr val="02C39A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46817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1B2E"/>
                </a:solidFill>
              </a:rPr>
              <a:t>Feature importances extracted from XGBoost model · plot_feature_importance() in evaluate.py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STREAMLIT APPLICATION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Prediction App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46304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463040"/>
            <a:ext cx="41148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463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Tab 1 — Single Prediction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" y="2121408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57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Sidebar with all 19 customer inputs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" y="2523744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459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Charges displayed in ₹ (INR)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" y="292608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8620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Shows churn probability % with progress bar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" y="3328416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264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🟢 Low / 🟡 Medium / 🔴 High risk level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8912" y="3730752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666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Rule-based key risk signals shown below result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8912" y="4133088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069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Threshold tuned to 0.40 (catches more churners)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146304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1463040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1463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Tab 2 — Batch Prediction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919472" y="212140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2057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Upload CSV with multiple customers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919472" y="252374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20640" y="2459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Auto-handles customerID &amp; Churn columns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919472" y="292608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20640" y="28620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Summary: total, churn count, avg probability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919472" y="332841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20640" y="3264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Risk breakdown table (Low / Medium / High)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919472" y="373075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120640" y="3666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Filter &amp; sort results by risk level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919472" y="413308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20640" y="4069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027"/>
                </a:solidFill>
              </a:rPr>
              <a:t>Download predictions as CSV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1B2E"/>
                </a:solidFill>
              </a:rPr>
              <a:t>CONCLUSION &amp; FUTURE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754880" cy="292608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What We Achieved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2996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19933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Built end-to-end ML pipeline on Telco dataset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688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4323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Handled class imbalance with SMOTE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0779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" y="28712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Compared 4 models — Gradient Boosting won with ROC-AUC 0.8335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4670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" y="33101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Deployed interactive Streamlit app with INR support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85616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9808" y="3749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Single + Batch prediction with CSV export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303520" y="1463040"/>
            <a:ext cx="3566160" cy="2926080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544068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Future Enhancements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40680" y="2057400"/>
            <a:ext cx="731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596128" y="2011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SHAP values for explainability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440680" y="2496312"/>
            <a:ext cx="731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596128" y="24505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Neural network (PyTorch)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40680" y="2935224"/>
            <a:ext cx="731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5596128" y="28895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Real-time API with FastAPI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40680" y="3374136"/>
            <a:ext cx="731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596128" y="33284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Dashboard with Plotly charts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440680" y="3813048"/>
            <a:ext cx="731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596128" y="37673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A/B test retention strategies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021B2E"/>
                </a:solidFill>
              </a:rPr>
              <a:t>Thank You  · 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subject>PptxGenJS Presentation</dc:subject>
  <dc:creator>PptxGenJS</dc:creator>
  <cp:lastModifiedBy>PptxGenJS</cp:lastModifiedBy>
  <cp:revision>1</cp:revision>
  <dcterms:created xsi:type="dcterms:W3CDTF">2026-04-13T18:50:08Z</dcterms:created>
  <dcterms:modified xsi:type="dcterms:W3CDTF">2026-04-13T18:50:08Z</dcterms:modified>
</cp:coreProperties>
</file>